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
  </p:notesMasterIdLst>
  <p:sldIdLst>
    <p:sldId id="256" r:id="rId2"/>
    <p:sldId id="257" r:id="rId3"/>
    <p:sldId id="258" r:id="rId4"/>
    <p:sldId id="260" r:id="rId5"/>
    <p:sldId id="261" r:id="rId6"/>
    <p:sldId id="262" r:id="rId7"/>
    <p:sldId id="263"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969" autoAdjust="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hammad Saqlain" userId="1f62c2ec9b7bc461" providerId="LiveId" clId="{47ADF502-85A2-4E47-B54C-015DC0D330D2}"/>
    <pc:docChg chg="custSel modSld">
      <pc:chgData name="Muhammad Saqlain" userId="1f62c2ec9b7bc461" providerId="LiveId" clId="{47ADF502-85A2-4E47-B54C-015DC0D330D2}" dt="2025-01-28T07:38:07.395" v="327" actId="20577"/>
      <pc:docMkLst>
        <pc:docMk/>
      </pc:docMkLst>
      <pc:sldChg chg="modSp mod modNotesTx">
        <pc:chgData name="Muhammad Saqlain" userId="1f62c2ec9b7bc461" providerId="LiveId" clId="{47ADF502-85A2-4E47-B54C-015DC0D330D2}" dt="2025-01-28T07:38:07.395" v="327" actId="20577"/>
        <pc:sldMkLst>
          <pc:docMk/>
          <pc:sldMk cId="1917811152" sldId="261"/>
        </pc:sldMkLst>
        <pc:spChg chg="mod">
          <ac:chgData name="Muhammad Saqlain" userId="1f62c2ec9b7bc461" providerId="LiveId" clId="{47ADF502-85A2-4E47-B54C-015DC0D330D2}" dt="2025-01-28T07:38:07.395" v="327" actId="20577"/>
          <ac:spMkLst>
            <pc:docMk/>
            <pc:sldMk cId="1917811152" sldId="261"/>
            <ac:spMk id="3" creationId="{41B47375-E27E-C849-0D95-B4E826FA411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CF030D-2AFB-4D3D-B2E7-061A3FAFAEE2}" type="datetimeFigureOut">
              <a:rPr lang="en-US" smtClean="0"/>
              <a:t>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08698F-B22B-44F4-8B7D-EDAA88341869}" type="slidenum">
              <a:rPr lang="en-US" smtClean="0"/>
              <a:t>‹#›</a:t>
            </a:fld>
            <a:endParaRPr lang="en-US"/>
          </a:p>
        </p:txBody>
      </p:sp>
    </p:spTree>
    <p:extLst>
      <p:ext uri="{BB962C8B-B14F-4D97-AF65-F5344CB8AC3E}">
        <p14:creationId xmlns:p14="http://schemas.microsoft.com/office/powerpoint/2010/main" val="250550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also used the one hot encoding but it cause to memory issue due the high number of columns so that’s why I used binary encoding to tackle this memory problem. Binary encoding  change the numerical values into the binary form.</a:t>
            </a:r>
          </a:p>
          <a:p>
            <a:endParaRPr lang="en-US" dirty="0"/>
          </a:p>
        </p:txBody>
      </p:sp>
      <p:sp>
        <p:nvSpPr>
          <p:cNvPr id="4" name="Slide Number Placeholder 3"/>
          <p:cNvSpPr>
            <a:spLocks noGrp="1"/>
          </p:cNvSpPr>
          <p:nvPr>
            <p:ph type="sldNum" sz="quarter" idx="5"/>
          </p:nvPr>
        </p:nvSpPr>
        <p:spPr/>
        <p:txBody>
          <a:bodyPr/>
          <a:lstStyle/>
          <a:p>
            <a:fld id="{1408698F-B22B-44F4-8B7D-EDAA88341869}" type="slidenum">
              <a:rPr lang="en-US" smtClean="0"/>
              <a:t>5</a:t>
            </a:fld>
            <a:endParaRPr lang="en-US"/>
          </a:p>
        </p:txBody>
      </p:sp>
    </p:spTree>
    <p:extLst>
      <p:ext uri="{BB962C8B-B14F-4D97-AF65-F5344CB8AC3E}">
        <p14:creationId xmlns:p14="http://schemas.microsoft.com/office/powerpoint/2010/main" val="19905028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1/28/2025</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1/28/2025</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1/28/2025</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A163-1F55-2636-0412-6952F6C746B6}"/>
              </a:ext>
            </a:extLst>
          </p:cNvPr>
          <p:cNvSpPr>
            <a:spLocks noGrp="1"/>
          </p:cNvSpPr>
          <p:nvPr>
            <p:ph type="ctrTitle"/>
          </p:nvPr>
        </p:nvSpPr>
        <p:spPr/>
        <p:txBody>
          <a:bodyPr/>
          <a:lstStyle/>
          <a:p>
            <a:r>
              <a:rPr lang="en-US" dirty="0"/>
              <a:t>Used car price prediction</a:t>
            </a:r>
          </a:p>
        </p:txBody>
      </p:sp>
      <p:sp>
        <p:nvSpPr>
          <p:cNvPr id="3" name="Subtitle 2">
            <a:extLst>
              <a:ext uri="{FF2B5EF4-FFF2-40B4-BE49-F238E27FC236}">
                <a16:creationId xmlns:a16="http://schemas.microsoft.com/office/drawing/2014/main" id="{456483E3-9CEE-A35F-390C-2F7E967B824C}"/>
              </a:ext>
            </a:extLst>
          </p:cNvPr>
          <p:cNvSpPr>
            <a:spLocks noGrp="1"/>
          </p:cNvSpPr>
          <p:nvPr>
            <p:ph type="subTitle" idx="1"/>
          </p:nvPr>
        </p:nvSpPr>
        <p:spPr/>
        <p:txBody>
          <a:bodyPr/>
          <a:lstStyle/>
          <a:p>
            <a:r>
              <a:rPr lang="en-US" dirty="0"/>
              <a:t>By Muhammad saqlain</a:t>
            </a:r>
          </a:p>
        </p:txBody>
      </p:sp>
    </p:spTree>
    <p:extLst>
      <p:ext uri="{BB962C8B-B14F-4D97-AF65-F5344CB8AC3E}">
        <p14:creationId xmlns:p14="http://schemas.microsoft.com/office/powerpoint/2010/main" val="4088462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646D0-CC62-7F2E-70E8-E5653A1FC1DC}"/>
              </a:ext>
            </a:extLst>
          </p:cNvPr>
          <p:cNvSpPr>
            <a:spLocks noGrp="1"/>
          </p:cNvSpPr>
          <p:nvPr>
            <p:ph type="title"/>
          </p:nvPr>
        </p:nvSpPr>
        <p:spPr/>
        <p:txBody>
          <a:bodyPr>
            <a:normAutofit/>
          </a:bodyPr>
          <a:lstStyle/>
          <a:p>
            <a:r>
              <a:rPr lang="en-US" sz="2400" b="1" dirty="0">
                <a:solidFill>
                  <a:srgbClr val="000000"/>
                </a:solidFill>
                <a:latin typeface="Old Standard TT"/>
              </a:rPr>
              <a:t>introduction</a:t>
            </a:r>
            <a:endParaRPr lang="en-US" sz="2400" dirty="0"/>
          </a:p>
        </p:txBody>
      </p:sp>
      <p:sp>
        <p:nvSpPr>
          <p:cNvPr id="3" name="Content Placeholder 2">
            <a:extLst>
              <a:ext uri="{FF2B5EF4-FFF2-40B4-BE49-F238E27FC236}">
                <a16:creationId xmlns:a16="http://schemas.microsoft.com/office/drawing/2014/main" id="{5AFDC712-9537-C001-C4C3-43727AE95988}"/>
              </a:ext>
            </a:extLst>
          </p:cNvPr>
          <p:cNvSpPr>
            <a:spLocks noGrp="1"/>
          </p:cNvSpPr>
          <p:nvPr>
            <p:ph idx="1"/>
          </p:nvPr>
        </p:nvSpPr>
        <p:spPr/>
        <p:txBody>
          <a:bodyPr>
            <a:normAutofit lnSpcReduction="10000"/>
          </a:bodyPr>
          <a:lstStyle/>
          <a:p>
            <a:r>
              <a:rPr lang="en-US" b="1" i="0" u="none" strike="noStrike" dirty="0">
                <a:solidFill>
                  <a:srgbClr val="000000"/>
                </a:solidFill>
                <a:effectLst/>
                <a:latin typeface="Arial" panose="020B0604020202020204" pitchFamily="34" charset="0"/>
              </a:rPr>
              <a:t>Objective</a:t>
            </a:r>
            <a:r>
              <a:rPr lang="en-US" b="0" i="0" u="none" strike="noStrike" dirty="0">
                <a:solidFill>
                  <a:srgbClr val="000000"/>
                </a:solidFill>
                <a:effectLst/>
                <a:latin typeface="Arial" panose="020B0604020202020204" pitchFamily="34" charset="0"/>
              </a:rPr>
              <a:t>:</a:t>
            </a:r>
            <a:br>
              <a:rPr lang="en-US" sz="1800" b="0" i="0" u="none" strike="noStrike" dirty="0">
                <a:solidFill>
                  <a:srgbClr val="000000"/>
                </a:solidFill>
                <a:effectLst/>
                <a:latin typeface="Arial" panose="020B0604020202020204" pitchFamily="34" charset="0"/>
              </a:rPr>
            </a:br>
            <a:r>
              <a:rPr lang="en-US" b="0" i="0" u="none" strike="noStrike" dirty="0">
                <a:solidFill>
                  <a:srgbClr val="000000"/>
                </a:solidFill>
                <a:effectLst/>
                <a:latin typeface="Arial" panose="020B0604020202020204" pitchFamily="34" charset="0"/>
              </a:rPr>
              <a:t>To predict the prices of used cars using various machine learning models and evaluate their performance.</a:t>
            </a:r>
          </a:p>
          <a:p>
            <a:pPr rtl="0" fontAlgn="base">
              <a:buFont typeface="Arial" panose="020B0604020202020204" pitchFamily="34" charset="0"/>
              <a:buChar char="•"/>
            </a:pPr>
            <a:r>
              <a:rPr lang="en-US" b="1" i="0" u="none" strike="noStrike" dirty="0">
                <a:solidFill>
                  <a:srgbClr val="000000"/>
                </a:solidFill>
                <a:effectLst/>
                <a:latin typeface="Arial" panose="020B0604020202020204" pitchFamily="34" charset="0"/>
              </a:rPr>
              <a:t>Dataset</a:t>
            </a:r>
            <a:r>
              <a:rPr lang="en-US" b="0" i="0" u="none" strike="noStrike" dirty="0">
                <a:solidFill>
                  <a:srgbClr val="000000"/>
                </a:solidFill>
                <a:effectLst/>
                <a:latin typeface="Arial" panose="020B0604020202020204" pitchFamily="34" charset="0"/>
              </a:rPr>
              <a:t>:</a:t>
            </a:r>
            <a:br>
              <a:rPr lang="en-US" sz="1800" b="0" i="0" u="none" strike="noStrike" dirty="0">
                <a:solidFill>
                  <a:srgbClr val="000000"/>
                </a:solidFill>
                <a:effectLst/>
                <a:latin typeface="Arial" panose="020B0604020202020204" pitchFamily="34" charset="0"/>
              </a:rPr>
            </a:br>
            <a:r>
              <a:rPr lang="en-US" b="0" i="0" u="none" strike="noStrike" dirty="0">
                <a:solidFill>
                  <a:srgbClr val="000000"/>
                </a:solidFill>
                <a:effectLst/>
                <a:latin typeface="Arial" panose="020B0604020202020204" pitchFamily="34" charset="0"/>
              </a:rPr>
              <a:t>Features: Includes fuel_type, mileage, model, transmission ext_col, int_col,brand, model_year,  accident, clean_title and engine etc.</a:t>
            </a:r>
          </a:p>
          <a:p>
            <a:pPr rtl="0" fontAlgn="base">
              <a:spcBef>
                <a:spcPts val="800"/>
              </a:spcBef>
              <a:buFont typeface="Arial" panose="020B0604020202020204" pitchFamily="34" charset="0"/>
              <a:buChar char="•"/>
            </a:pPr>
            <a:r>
              <a:rPr lang="en-US" b="0" i="0" u="none" strike="noStrike" dirty="0">
                <a:solidFill>
                  <a:srgbClr val="000000"/>
                </a:solidFill>
                <a:effectLst/>
                <a:latin typeface="Arial" panose="020B0604020202020204" pitchFamily="34" charset="0"/>
              </a:rPr>
              <a:t>Target Variable: `Price`</a:t>
            </a:r>
          </a:p>
          <a:p>
            <a:r>
              <a:rPr lang="en-US" b="1" i="0" u="none" strike="noStrike" dirty="0">
                <a:solidFill>
                  <a:srgbClr val="000000"/>
                </a:solidFill>
                <a:effectLst/>
                <a:latin typeface="Arial" panose="020B0604020202020204" pitchFamily="34" charset="0"/>
              </a:rPr>
              <a:t>Dataset Size</a:t>
            </a:r>
            <a:r>
              <a:rPr lang="en-US" sz="1800" b="0" i="0" u="none" strike="noStrike" dirty="0">
                <a:solidFill>
                  <a:srgbClr val="000000"/>
                </a:solidFill>
                <a:effectLst/>
                <a:latin typeface="Arial" panose="020B0604020202020204" pitchFamily="34" charset="0"/>
              </a:rPr>
              <a:t>:</a:t>
            </a:r>
            <a:br>
              <a:rPr lang="en-US" sz="1800" b="0" i="0" u="none" strike="noStrike" dirty="0">
                <a:solidFill>
                  <a:srgbClr val="000000"/>
                </a:solidFill>
                <a:effectLst/>
                <a:latin typeface="Arial" panose="020B0604020202020204" pitchFamily="34" charset="0"/>
              </a:rPr>
            </a:br>
            <a:r>
              <a:rPr lang="en-US" b="0" i="0" u="none" strike="noStrike" dirty="0">
                <a:solidFill>
                  <a:srgbClr val="000000"/>
                </a:solidFill>
                <a:effectLst/>
                <a:latin typeface="Arial" panose="020B0604020202020204" pitchFamily="34" charset="0"/>
              </a:rPr>
              <a:t>4009 rows and 12 features</a:t>
            </a:r>
            <a:endParaRPr lang="en-US" dirty="0"/>
          </a:p>
        </p:txBody>
      </p:sp>
    </p:spTree>
    <p:extLst>
      <p:ext uri="{BB962C8B-B14F-4D97-AF65-F5344CB8AC3E}">
        <p14:creationId xmlns:p14="http://schemas.microsoft.com/office/powerpoint/2010/main" val="1563695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E5E9F-228F-1B37-B728-6082B5442B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A1954F-3EAE-16A0-8DA1-24E79E0F383E}"/>
              </a:ext>
            </a:extLst>
          </p:cNvPr>
          <p:cNvSpPr>
            <a:spLocks noGrp="1"/>
          </p:cNvSpPr>
          <p:nvPr>
            <p:ph type="title"/>
          </p:nvPr>
        </p:nvSpPr>
        <p:spPr>
          <a:xfrm>
            <a:off x="1451579" y="1199213"/>
            <a:ext cx="9603275" cy="654541"/>
          </a:xfrm>
        </p:spPr>
        <p:txBody>
          <a:bodyPr>
            <a:normAutofit/>
          </a:bodyPr>
          <a:lstStyle/>
          <a:p>
            <a:r>
              <a:rPr lang="en-US" sz="2400" b="1" dirty="0">
                <a:solidFill>
                  <a:srgbClr val="000000"/>
                </a:solidFill>
                <a:latin typeface="Old Standard TT"/>
              </a:rPr>
              <a:t>Problem statement</a:t>
            </a:r>
            <a:endParaRPr lang="en-US" sz="2400" dirty="0"/>
          </a:p>
        </p:txBody>
      </p:sp>
      <p:sp>
        <p:nvSpPr>
          <p:cNvPr id="3" name="Content Placeholder 2">
            <a:extLst>
              <a:ext uri="{FF2B5EF4-FFF2-40B4-BE49-F238E27FC236}">
                <a16:creationId xmlns:a16="http://schemas.microsoft.com/office/drawing/2014/main" id="{CEF1B263-8960-9A28-1FAA-BEE5E38BBDFD}"/>
              </a:ext>
            </a:extLst>
          </p:cNvPr>
          <p:cNvSpPr>
            <a:spLocks noGrp="1"/>
          </p:cNvSpPr>
          <p:nvPr>
            <p:ph idx="1"/>
          </p:nvPr>
        </p:nvSpPr>
        <p:spPr>
          <a:xfrm>
            <a:off x="1451579" y="2548327"/>
            <a:ext cx="9603275" cy="1693889"/>
          </a:xfrm>
        </p:spPr>
        <p:txBody>
          <a:bodyPr/>
          <a:lstStyle/>
          <a:p>
            <a:pPr marL="0" indent="0">
              <a:buNone/>
            </a:pPr>
            <a:r>
              <a:rPr lang="en-US" dirty="0"/>
              <a:t>Develop a machine learning model to predict used car prices based on features like mileage, engine size, fuel type, and transmission. The goal is to help buyers and sellers make smart decisions by giving them a clear idea of what prices should be.</a:t>
            </a:r>
          </a:p>
        </p:txBody>
      </p:sp>
    </p:spTree>
    <p:extLst>
      <p:ext uri="{BB962C8B-B14F-4D97-AF65-F5344CB8AC3E}">
        <p14:creationId xmlns:p14="http://schemas.microsoft.com/office/powerpoint/2010/main" val="667427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7D242-AB85-F7B2-0679-36FBA49405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C2D4E-54F9-59B2-45AD-0D5E753A01FD}"/>
              </a:ext>
            </a:extLst>
          </p:cNvPr>
          <p:cNvSpPr>
            <a:spLocks noGrp="1"/>
          </p:cNvSpPr>
          <p:nvPr>
            <p:ph type="title"/>
          </p:nvPr>
        </p:nvSpPr>
        <p:spPr>
          <a:xfrm>
            <a:off x="1294362" y="209862"/>
            <a:ext cx="9603275" cy="654541"/>
          </a:xfrm>
        </p:spPr>
        <p:txBody>
          <a:bodyPr/>
          <a:lstStyle/>
          <a:p>
            <a:r>
              <a:rPr lang="en-US" dirty="0"/>
              <a:t>correlation</a:t>
            </a:r>
          </a:p>
        </p:txBody>
      </p:sp>
      <p:pic>
        <p:nvPicPr>
          <p:cNvPr id="5" name="Content Placeholder 4">
            <a:extLst>
              <a:ext uri="{FF2B5EF4-FFF2-40B4-BE49-F238E27FC236}">
                <a16:creationId xmlns:a16="http://schemas.microsoft.com/office/drawing/2014/main" id="{BD0BC6CA-7A24-833F-B24F-DB6BA04FA40F}"/>
              </a:ext>
            </a:extLst>
          </p:cNvPr>
          <p:cNvPicPr>
            <a:picLocks noGrp="1" noChangeAspect="1"/>
          </p:cNvPicPr>
          <p:nvPr>
            <p:ph idx="1"/>
          </p:nvPr>
        </p:nvPicPr>
        <p:blipFill>
          <a:blip r:embed="rId2"/>
          <a:stretch>
            <a:fillRect/>
          </a:stretch>
        </p:blipFill>
        <p:spPr>
          <a:xfrm>
            <a:off x="899410" y="674558"/>
            <a:ext cx="10987790" cy="6183442"/>
          </a:xfrm>
        </p:spPr>
      </p:pic>
    </p:spTree>
    <p:extLst>
      <p:ext uri="{BB962C8B-B14F-4D97-AF65-F5344CB8AC3E}">
        <p14:creationId xmlns:p14="http://schemas.microsoft.com/office/powerpoint/2010/main" val="2977441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FBFB7-FD12-EF1C-6541-B12BE19C3B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7EADBC-6AB8-8AD4-E182-9911E354C5BC}"/>
              </a:ext>
            </a:extLst>
          </p:cNvPr>
          <p:cNvSpPr>
            <a:spLocks noGrp="1"/>
          </p:cNvSpPr>
          <p:nvPr>
            <p:ph type="title"/>
          </p:nvPr>
        </p:nvSpPr>
        <p:spPr>
          <a:xfrm>
            <a:off x="1414283" y="1324162"/>
            <a:ext cx="9603275" cy="654541"/>
          </a:xfrm>
        </p:spPr>
        <p:txBody>
          <a:bodyPr>
            <a:normAutofit/>
          </a:bodyPr>
          <a:lstStyle/>
          <a:p>
            <a:r>
              <a:rPr lang="en-US" sz="2400" b="1" dirty="0">
                <a:solidFill>
                  <a:srgbClr val="000000"/>
                </a:solidFill>
                <a:latin typeface="Old Standard TT"/>
              </a:rPr>
              <a:t>preprocessing</a:t>
            </a:r>
            <a:endParaRPr lang="en-US" sz="2400" dirty="0"/>
          </a:p>
        </p:txBody>
      </p:sp>
      <p:sp>
        <p:nvSpPr>
          <p:cNvPr id="3" name="Content Placeholder 2">
            <a:extLst>
              <a:ext uri="{FF2B5EF4-FFF2-40B4-BE49-F238E27FC236}">
                <a16:creationId xmlns:a16="http://schemas.microsoft.com/office/drawing/2014/main" id="{41B47375-E27E-C849-0D95-B4E826FA4112}"/>
              </a:ext>
            </a:extLst>
          </p:cNvPr>
          <p:cNvSpPr>
            <a:spLocks noGrp="1"/>
          </p:cNvSpPr>
          <p:nvPr>
            <p:ph idx="1"/>
          </p:nvPr>
        </p:nvSpPr>
        <p:spPr>
          <a:xfrm>
            <a:off x="1174442" y="1783830"/>
            <a:ext cx="11017558" cy="3942414"/>
          </a:xfrm>
        </p:spPr>
        <p:txBody>
          <a:bodyPr>
            <a:noAutofit/>
          </a:bodyPr>
          <a:lstStyle/>
          <a:p>
            <a:pPr rtl="0" fontAlgn="base">
              <a:buFont typeface="Arial" panose="020B0604020202020204" pitchFamily="34" charset="0"/>
              <a:buChar char="•"/>
            </a:pPr>
            <a:r>
              <a:rPr lang="en-US" b="0" i="0" u="none" strike="noStrike" dirty="0">
                <a:solidFill>
                  <a:srgbClr val="000000"/>
                </a:solidFill>
                <a:effectLst/>
                <a:latin typeface="Arial" panose="020B0604020202020204" pitchFamily="34" charset="0"/>
              </a:rPr>
              <a:t>Label Encoder</a:t>
            </a:r>
          </a:p>
          <a:p>
            <a:pPr marL="457200" rtl="0"/>
            <a:r>
              <a:rPr lang="en-US" b="0" i="0" u="none" strike="noStrike" dirty="0">
                <a:solidFill>
                  <a:srgbClr val="000000"/>
                </a:solidFill>
                <a:effectLst/>
                <a:latin typeface="Arial" panose="020B0604020202020204" pitchFamily="34" charset="0"/>
              </a:rPr>
              <a:t>Use Label Encoding for: model, engine, accident, clean_title.</a:t>
            </a:r>
            <a:endParaRPr lang="en-US" b="0" dirty="0">
              <a:effectLst/>
            </a:endParaRPr>
          </a:p>
          <a:p>
            <a:pPr rtl="0" fontAlgn="base">
              <a:buFont typeface="Arial" panose="020B0604020202020204" pitchFamily="34" charset="0"/>
              <a:buChar char="•"/>
            </a:pPr>
            <a:r>
              <a:rPr lang="en-US" b="0" i="0" u="none" strike="noStrike" dirty="0">
                <a:solidFill>
                  <a:srgbClr val="000000"/>
                </a:solidFill>
                <a:effectLst/>
                <a:latin typeface="Arial" panose="020B0604020202020204" pitchFamily="34" charset="0"/>
              </a:rPr>
              <a:t> Binary Encoding</a:t>
            </a:r>
          </a:p>
          <a:p>
            <a:pPr marL="457200" rtl="0"/>
            <a:r>
              <a:rPr lang="en-US" b="0" i="0" u="none" strike="noStrike" dirty="0">
                <a:solidFill>
                  <a:srgbClr val="000000"/>
                </a:solidFill>
                <a:effectLst/>
                <a:latin typeface="Arial" panose="020B0604020202020204" pitchFamily="34" charset="0"/>
              </a:rPr>
              <a:t>Use Binary Encoding for: brand, fuel_type, transmission, ext_col, int_col.</a:t>
            </a:r>
            <a:endParaRPr lang="en-US" b="0" dirty="0">
              <a:effectLst/>
            </a:endParaRPr>
          </a:p>
          <a:p>
            <a:pPr rtl="0"/>
            <a:r>
              <a:rPr lang="en-US" b="1" i="0" u="none" strike="noStrike" dirty="0">
                <a:solidFill>
                  <a:srgbClr val="000000"/>
                </a:solidFill>
                <a:effectLst/>
                <a:latin typeface="Arial" panose="020B0604020202020204" pitchFamily="34" charset="0"/>
              </a:rPr>
              <a:t>Normalization:</a:t>
            </a:r>
            <a:endParaRPr lang="en-US" b="0" dirty="0">
              <a:effectLst/>
            </a:endParaRPr>
          </a:p>
          <a:p>
            <a:pPr rtl="0" fontAlgn="base">
              <a:buFont typeface="Arial" panose="020B0604020202020204" pitchFamily="34" charset="0"/>
              <a:buChar char="•"/>
            </a:pPr>
            <a:r>
              <a:rPr lang="en-US" b="0" i="0" u="none" strike="noStrike" dirty="0">
                <a:solidFill>
                  <a:srgbClr val="000000"/>
                </a:solidFill>
                <a:effectLst/>
                <a:latin typeface="Arial" panose="020B0604020202020204" pitchFamily="34" charset="0"/>
              </a:rPr>
              <a:t>MinMax Scaling</a:t>
            </a:r>
          </a:p>
          <a:p>
            <a:pPr marL="457200" rtl="0"/>
            <a:r>
              <a:rPr lang="en-US" b="0" i="0" u="none" strike="noStrike" dirty="0">
                <a:solidFill>
                  <a:srgbClr val="000000"/>
                </a:solidFill>
                <a:effectLst/>
                <a:latin typeface="Arial" panose="020B0604020202020204" pitchFamily="34" charset="0"/>
              </a:rPr>
              <a:t> for the numerical columns </a:t>
            </a:r>
            <a:r>
              <a:rPr lang="en-US" b="0" i="0" u="none" strike="noStrike" dirty="0">
                <a:solidFill>
                  <a:srgbClr val="188038"/>
                </a:solidFill>
                <a:effectLst/>
                <a:latin typeface="Roboto Mono" panose="020F0502020204030204" pitchFamily="49" charset="0"/>
              </a:rPr>
              <a:t>model</a:t>
            </a:r>
            <a:r>
              <a:rPr lang="en-US" b="0" i="0" u="none" strike="noStrike" dirty="0">
                <a:solidFill>
                  <a:srgbClr val="000000"/>
                </a:solidFill>
                <a:effectLst/>
                <a:latin typeface="Arial" panose="020B0604020202020204" pitchFamily="34" charset="0"/>
              </a:rPr>
              <a:t>, </a:t>
            </a:r>
            <a:r>
              <a:rPr lang="en-US" b="0" i="0" u="none" strike="noStrike" dirty="0">
                <a:solidFill>
                  <a:srgbClr val="188038"/>
                </a:solidFill>
                <a:effectLst/>
                <a:latin typeface="Roboto Mono" panose="020F0502020204030204" pitchFamily="49" charset="0"/>
              </a:rPr>
              <a:t>milage</a:t>
            </a:r>
            <a:r>
              <a:rPr lang="en-US" b="0" i="0" u="none" strike="noStrike" dirty="0">
                <a:solidFill>
                  <a:srgbClr val="000000"/>
                </a:solidFill>
                <a:effectLst/>
                <a:latin typeface="Arial" panose="020B0604020202020204" pitchFamily="34" charset="0"/>
              </a:rPr>
              <a:t>, </a:t>
            </a:r>
            <a:r>
              <a:rPr lang="en-US" b="0" i="0" u="none" strike="noStrike" dirty="0">
                <a:solidFill>
                  <a:srgbClr val="188038"/>
                </a:solidFill>
                <a:effectLst/>
                <a:latin typeface="Roboto Mono" panose="020F0502020204030204" pitchFamily="49" charset="0"/>
              </a:rPr>
              <a:t>engine,accident,clean_title</a:t>
            </a:r>
            <a:br>
              <a:rPr lang="en-US" b="0" dirty="0">
                <a:effectLst/>
              </a:rPr>
            </a:br>
            <a:r>
              <a:rPr lang="en-US" b="0" i="0" u="none" strike="noStrike" dirty="0">
                <a:solidFill>
                  <a:srgbClr val="000000"/>
                </a:solidFill>
                <a:effectLst/>
                <a:latin typeface="Arial" panose="020B0604020202020204" pitchFamily="34" charset="0"/>
              </a:rPr>
              <a:t>.</a:t>
            </a:r>
            <a:endParaRPr lang="en-US" b="0" dirty="0">
              <a:effectLst/>
            </a:endParaRPr>
          </a:p>
          <a:p>
            <a:pPr marL="0" indent="0">
              <a:buNone/>
            </a:pPr>
            <a:br>
              <a:rPr lang="en-US" b="0" dirty="0">
                <a:effectLst/>
              </a:rPr>
            </a:br>
            <a:br>
              <a:rPr lang="en-US" b="0" i="0" u="none" strike="noStrike" dirty="0">
                <a:solidFill>
                  <a:srgbClr val="000000"/>
                </a:solidFill>
                <a:effectLst/>
                <a:latin typeface="Arial" panose="020B0604020202020204" pitchFamily="34" charset="0"/>
              </a:rPr>
            </a:br>
            <a:endParaRPr lang="en-US" dirty="0"/>
          </a:p>
        </p:txBody>
      </p:sp>
    </p:spTree>
    <p:extLst>
      <p:ext uri="{BB962C8B-B14F-4D97-AF65-F5344CB8AC3E}">
        <p14:creationId xmlns:p14="http://schemas.microsoft.com/office/powerpoint/2010/main" val="1917811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493CB-B0B3-B2B6-1369-86AABF9334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DDFE86-24CA-4A3A-D438-6579388469E8}"/>
              </a:ext>
            </a:extLst>
          </p:cNvPr>
          <p:cNvSpPr>
            <a:spLocks noGrp="1"/>
          </p:cNvSpPr>
          <p:nvPr>
            <p:ph type="title"/>
          </p:nvPr>
        </p:nvSpPr>
        <p:spPr>
          <a:xfrm>
            <a:off x="1414283" y="1324162"/>
            <a:ext cx="9603275" cy="654541"/>
          </a:xfrm>
        </p:spPr>
        <p:txBody>
          <a:bodyPr>
            <a:normAutofit/>
          </a:bodyPr>
          <a:lstStyle/>
          <a:p>
            <a:r>
              <a:rPr lang="en-US" sz="2400" b="1" dirty="0">
                <a:solidFill>
                  <a:srgbClr val="000000"/>
                </a:solidFill>
                <a:latin typeface="Old Standard TT"/>
              </a:rPr>
              <a:t>Model explored</a:t>
            </a:r>
            <a:endParaRPr lang="en-US" sz="2400" dirty="0"/>
          </a:p>
        </p:txBody>
      </p:sp>
      <p:sp>
        <p:nvSpPr>
          <p:cNvPr id="3" name="Content Placeholder 2">
            <a:extLst>
              <a:ext uri="{FF2B5EF4-FFF2-40B4-BE49-F238E27FC236}">
                <a16:creationId xmlns:a16="http://schemas.microsoft.com/office/drawing/2014/main" id="{1870F9AC-C4A8-4531-087B-8E5F308718F5}"/>
              </a:ext>
            </a:extLst>
          </p:cNvPr>
          <p:cNvSpPr>
            <a:spLocks noGrp="1"/>
          </p:cNvSpPr>
          <p:nvPr>
            <p:ph idx="1"/>
          </p:nvPr>
        </p:nvSpPr>
        <p:spPr>
          <a:xfrm>
            <a:off x="1174442" y="1783830"/>
            <a:ext cx="11017558" cy="3942414"/>
          </a:xfrm>
        </p:spPr>
        <p:txBody>
          <a:bodyPr>
            <a:noAutofit/>
          </a:bodyPr>
          <a:lstStyle/>
          <a:p>
            <a:pPr rtl="0" fontAlgn="base">
              <a:spcAft>
                <a:spcPts val="1600"/>
              </a:spcAft>
              <a:buFont typeface="Arial" panose="020B0604020202020204" pitchFamily="34" charset="0"/>
              <a:buChar char="•"/>
            </a:pPr>
            <a:r>
              <a:rPr lang="en-US" b="0" i="0" u="none" strike="noStrike" dirty="0">
                <a:effectLst/>
                <a:latin typeface="Old Standard TT"/>
              </a:rPr>
              <a:t>Linear regression</a:t>
            </a:r>
          </a:p>
          <a:p>
            <a:pPr rtl="0" fontAlgn="base">
              <a:spcAft>
                <a:spcPts val="1600"/>
              </a:spcAft>
              <a:buFont typeface="Arial" panose="020B0604020202020204" pitchFamily="34" charset="0"/>
              <a:buChar char="•"/>
            </a:pPr>
            <a:r>
              <a:rPr lang="en-US" b="0" i="0" u="none" strike="noStrike" dirty="0">
                <a:effectLst/>
                <a:latin typeface="Old Standard TT"/>
              </a:rPr>
              <a:t>Random Forest Regressor</a:t>
            </a:r>
          </a:p>
          <a:p>
            <a:pPr rtl="0">
              <a:spcAft>
                <a:spcPts val="1600"/>
              </a:spcAft>
            </a:pPr>
            <a:r>
              <a:rPr lang="en-US" b="0" i="0" u="none" strike="noStrike" dirty="0">
                <a:effectLst/>
                <a:latin typeface="Old Standard TT"/>
              </a:rPr>
              <a:t>XGBoost</a:t>
            </a:r>
          </a:p>
          <a:p>
            <a:pPr marL="0" indent="0" rtl="0">
              <a:spcAft>
                <a:spcPts val="1600"/>
              </a:spcAft>
              <a:buNone/>
            </a:pPr>
            <a:r>
              <a:rPr lang="en-US" b="1" i="0" u="none" strike="noStrike" dirty="0">
                <a:effectLst/>
                <a:latin typeface="Old Standard TT"/>
              </a:rPr>
              <a:t>Evaluation Metrics</a:t>
            </a:r>
            <a:endParaRPr lang="en-US" b="1" dirty="0">
              <a:effectLst/>
            </a:endParaRPr>
          </a:p>
          <a:p>
            <a:r>
              <a:rPr lang="en-US" b="0" i="0" u="none" strike="noStrike" dirty="0">
                <a:effectLst/>
                <a:latin typeface="Old Standard TT"/>
              </a:rPr>
              <a:t>R-Squared Score</a:t>
            </a:r>
          </a:p>
          <a:p>
            <a:endParaRPr lang="en-US" b="0" i="0" u="none" strike="noStrike" dirty="0">
              <a:effectLst/>
              <a:latin typeface="Old Standard TT"/>
            </a:endParaRPr>
          </a:p>
          <a:p>
            <a:pPr marL="0" indent="0" rtl="0" fontAlgn="base">
              <a:buNone/>
            </a:pPr>
            <a:br>
              <a:rPr lang="en-US" b="0" dirty="0">
                <a:effectLst/>
              </a:rPr>
            </a:br>
            <a:r>
              <a:rPr lang="en-US" b="0" i="0" u="none" strike="noStrike" dirty="0">
                <a:effectLst/>
                <a:latin typeface="Arial" panose="020B0604020202020204" pitchFamily="34" charset="0"/>
              </a:rPr>
              <a:t>.</a:t>
            </a:r>
            <a:endParaRPr lang="en-US" b="0" dirty="0">
              <a:effectLst/>
            </a:endParaRPr>
          </a:p>
          <a:p>
            <a:pPr marL="0" indent="0">
              <a:buNone/>
            </a:pPr>
            <a:br>
              <a:rPr lang="en-US" b="0" dirty="0">
                <a:effectLst/>
              </a:rPr>
            </a:br>
            <a:br>
              <a:rPr lang="en-US" b="0" i="0" u="none" strike="noStrike" dirty="0">
                <a:effectLst/>
                <a:latin typeface="Arial" panose="020B0604020202020204" pitchFamily="34" charset="0"/>
              </a:rPr>
            </a:br>
            <a:endParaRPr lang="en-US" dirty="0"/>
          </a:p>
        </p:txBody>
      </p:sp>
    </p:spTree>
    <p:extLst>
      <p:ext uri="{BB962C8B-B14F-4D97-AF65-F5344CB8AC3E}">
        <p14:creationId xmlns:p14="http://schemas.microsoft.com/office/powerpoint/2010/main" val="376748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7CF08-329C-10CF-BC3E-FC090CB18062}"/>
              </a:ext>
            </a:extLst>
          </p:cNvPr>
          <p:cNvSpPr>
            <a:spLocks noGrp="1"/>
          </p:cNvSpPr>
          <p:nvPr>
            <p:ph type="title"/>
          </p:nvPr>
        </p:nvSpPr>
        <p:spPr/>
        <p:txBody>
          <a:bodyPr/>
          <a:lstStyle/>
          <a:p>
            <a:r>
              <a:rPr lang="en-US" b="0" i="0" u="none" strike="noStrike" dirty="0">
                <a:effectLst/>
                <a:latin typeface="Old Standard TT"/>
              </a:rPr>
              <a:t>R-Squared Score</a:t>
            </a:r>
            <a:br>
              <a:rPr lang="en-US" b="0" i="0" u="none" strike="noStrike" dirty="0">
                <a:effectLst/>
                <a:latin typeface="Old Standard TT"/>
              </a:rPr>
            </a:br>
            <a:endParaRPr lang="en-US" dirty="0"/>
          </a:p>
        </p:txBody>
      </p:sp>
      <p:graphicFrame>
        <p:nvGraphicFramePr>
          <p:cNvPr id="7" name="Content Placeholder 6">
            <a:extLst>
              <a:ext uri="{FF2B5EF4-FFF2-40B4-BE49-F238E27FC236}">
                <a16:creationId xmlns:a16="http://schemas.microsoft.com/office/drawing/2014/main" id="{AAC391EE-D592-BDB6-BE5F-FF29759294CD}"/>
              </a:ext>
            </a:extLst>
          </p:cNvPr>
          <p:cNvGraphicFramePr>
            <a:graphicFrameLocks noGrp="1"/>
          </p:cNvGraphicFramePr>
          <p:nvPr>
            <p:ph idx="1"/>
            <p:extLst>
              <p:ext uri="{D42A27DB-BD31-4B8C-83A1-F6EECF244321}">
                <p14:modId xmlns:p14="http://schemas.microsoft.com/office/powerpoint/2010/main" val="1135133655"/>
              </p:ext>
            </p:extLst>
          </p:nvPr>
        </p:nvGraphicFramePr>
        <p:xfrm>
          <a:off x="1451579" y="2031115"/>
          <a:ext cx="9604374" cy="3728233"/>
        </p:xfrm>
        <a:graphic>
          <a:graphicData uri="http://schemas.openxmlformats.org/drawingml/2006/table">
            <a:tbl>
              <a:tblPr firstRow="1" bandRow="1">
                <a:tableStyleId>{5940675A-B579-460E-94D1-54222C63F5DA}</a:tableStyleId>
              </a:tblPr>
              <a:tblGrid>
                <a:gridCol w="4802187">
                  <a:extLst>
                    <a:ext uri="{9D8B030D-6E8A-4147-A177-3AD203B41FA5}">
                      <a16:colId xmlns:a16="http://schemas.microsoft.com/office/drawing/2014/main" val="1876445479"/>
                    </a:ext>
                  </a:extLst>
                </a:gridCol>
                <a:gridCol w="4802187">
                  <a:extLst>
                    <a:ext uri="{9D8B030D-6E8A-4147-A177-3AD203B41FA5}">
                      <a16:colId xmlns:a16="http://schemas.microsoft.com/office/drawing/2014/main" val="1796862508"/>
                    </a:ext>
                  </a:extLst>
                </a:gridCol>
              </a:tblGrid>
              <a:tr h="876977">
                <a:tc>
                  <a:txBody>
                    <a:bodyPr/>
                    <a:lstStyle/>
                    <a:p>
                      <a:pPr algn="ctr"/>
                      <a:r>
                        <a:rPr lang="en-US" sz="2000" b="1" dirty="0"/>
                        <a:t>MODELS</a:t>
                      </a:r>
                      <a:r>
                        <a:rPr lang="en-US" dirty="0"/>
                        <a:t> </a:t>
                      </a:r>
                    </a:p>
                  </a:txBody>
                  <a:tcPr/>
                </a:tc>
                <a:tc>
                  <a:txBody>
                    <a:bodyPr/>
                    <a:lstStyle/>
                    <a:p>
                      <a:pPr algn="ctr"/>
                      <a:r>
                        <a:rPr lang="en-US" sz="2000" b="1" dirty="0"/>
                        <a:t>SCORE</a:t>
                      </a:r>
                    </a:p>
                  </a:txBody>
                  <a:tcPr/>
                </a:tc>
                <a:extLst>
                  <a:ext uri="{0D108BD9-81ED-4DB2-BD59-A6C34878D82A}">
                    <a16:rowId xmlns:a16="http://schemas.microsoft.com/office/drawing/2014/main" val="177227163"/>
                  </a:ext>
                </a:extLst>
              </a:tr>
              <a:tr h="899858">
                <a:tc>
                  <a:txBody>
                    <a:bodyPr/>
                    <a:lstStyle/>
                    <a:p>
                      <a:pPr algn="ctr"/>
                      <a:r>
                        <a:rPr lang="en-US" sz="2000" dirty="0"/>
                        <a:t>Linear Regression</a:t>
                      </a:r>
                    </a:p>
                  </a:txBody>
                  <a:tcPr/>
                </a:tc>
                <a:tc>
                  <a:txBody>
                    <a:bodyPr/>
                    <a:lstStyle/>
                    <a:p>
                      <a:pPr algn="ctr"/>
                      <a:r>
                        <a:rPr lang="en-US" sz="2000" dirty="0"/>
                        <a:t>Training R^2 score: 0.955473348930221</a:t>
                      </a:r>
                    </a:p>
                  </a:txBody>
                  <a:tcPr/>
                </a:tc>
                <a:extLst>
                  <a:ext uri="{0D108BD9-81ED-4DB2-BD59-A6C34878D82A}">
                    <a16:rowId xmlns:a16="http://schemas.microsoft.com/office/drawing/2014/main" val="4108654669"/>
                  </a:ext>
                </a:extLst>
              </a:tr>
              <a:tr h="945710">
                <a:tc>
                  <a:txBody>
                    <a:bodyPr/>
                    <a:lstStyle/>
                    <a:p>
                      <a:pPr algn="ctr"/>
                      <a:r>
                        <a:rPr lang="en-US" sz="2000" dirty="0"/>
                        <a:t>Random Forest Regressor</a:t>
                      </a:r>
                    </a:p>
                  </a:txBody>
                  <a:tcPr/>
                </a:tc>
                <a:tc>
                  <a:txBody>
                    <a:bodyPr/>
                    <a:lstStyle/>
                    <a:p>
                      <a:pPr algn="ctr"/>
                      <a:r>
                        <a:rPr lang="en-US" sz="2000" dirty="0"/>
                        <a:t>Training R^2 score: 0.9588461218552885</a:t>
                      </a:r>
                    </a:p>
                  </a:txBody>
                  <a:tcPr/>
                </a:tc>
                <a:extLst>
                  <a:ext uri="{0D108BD9-81ED-4DB2-BD59-A6C34878D82A}">
                    <a16:rowId xmlns:a16="http://schemas.microsoft.com/office/drawing/2014/main" val="522912013"/>
                  </a:ext>
                </a:extLst>
              </a:tr>
              <a:tr h="1005688">
                <a:tc>
                  <a:txBody>
                    <a:bodyPr/>
                    <a:lstStyle/>
                    <a:p>
                      <a:pPr algn="ctr"/>
                      <a:r>
                        <a:rPr lang="en-US" sz="2000" dirty="0"/>
                        <a:t>XGBoost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Training R^2 score: 0.964274456682084</a:t>
                      </a:r>
                    </a:p>
                    <a:p>
                      <a:endParaRPr lang="en-US" dirty="0"/>
                    </a:p>
                  </a:txBody>
                  <a:tcPr/>
                </a:tc>
                <a:extLst>
                  <a:ext uri="{0D108BD9-81ED-4DB2-BD59-A6C34878D82A}">
                    <a16:rowId xmlns:a16="http://schemas.microsoft.com/office/drawing/2014/main" val="3818130914"/>
                  </a:ext>
                </a:extLst>
              </a:tr>
            </a:tbl>
          </a:graphicData>
        </a:graphic>
      </p:graphicFrame>
    </p:spTree>
    <p:extLst>
      <p:ext uri="{BB962C8B-B14F-4D97-AF65-F5344CB8AC3E}">
        <p14:creationId xmlns:p14="http://schemas.microsoft.com/office/powerpoint/2010/main" val="2274577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3F58C-5318-623D-2491-2CFF12BDC0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5A155D-4726-1409-6228-AF9D321A0DC7}"/>
              </a:ext>
            </a:extLst>
          </p:cNvPr>
          <p:cNvSpPr>
            <a:spLocks noGrp="1"/>
          </p:cNvSpPr>
          <p:nvPr>
            <p:ph type="title"/>
          </p:nvPr>
        </p:nvSpPr>
        <p:spPr>
          <a:xfrm>
            <a:off x="1414283" y="1324162"/>
            <a:ext cx="9603275" cy="654541"/>
          </a:xfrm>
        </p:spPr>
        <p:txBody>
          <a:bodyPr>
            <a:normAutofit/>
          </a:bodyPr>
          <a:lstStyle/>
          <a:p>
            <a:r>
              <a:rPr lang="en-US" sz="2400" b="1" dirty="0">
                <a:solidFill>
                  <a:srgbClr val="000000"/>
                </a:solidFill>
                <a:latin typeface="Old Standard TT"/>
              </a:rPr>
              <a:t>conclusion</a:t>
            </a:r>
            <a:endParaRPr lang="en-US" sz="2400" dirty="0"/>
          </a:p>
        </p:txBody>
      </p:sp>
      <p:sp>
        <p:nvSpPr>
          <p:cNvPr id="3" name="Content Placeholder 2">
            <a:extLst>
              <a:ext uri="{FF2B5EF4-FFF2-40B4-BE49-F238E27FC236}">
                <a16:creationId xmlns:a16="http://schemas.microsoft.com/office/drawing/2014/main" id="{07A9624B-99BE-DB3E-0E6D-75ABD8CE273E}"/>
              </a:ext>
            </a:extLst>
          </p:cNvPr>
          <p:cNvSpPr>
            <a:spLocks noGrp="1"/>
          </p:cNvSpPr>
          <p:nvPr>
            <p:ph idx="1"/>
          </p:nvPr>
        </p:nvSpPr>
        <p:spPr>
          <a:xfrm>
            <a:off x="1174442" y="2518348"/>
            <a:ext cx="11017558" cy="2203554"/>
          </a:xfrm>
        </p:spPr>
        <p:txBody>
          <a:bodyPr>
            <a:noAutofit/>
          </a:bodyPr>
          <a:lstStyle/>
          <a:p>
            <a:pPr marL="0" indent="0">
              <a:buNone/>
            </a:pPr>
            <a:r>
              <a:rPr lang="en-US" sz="1800" b="0" i="0" u="none" strike="noStrike" dirty="0">
                <a:solidFill>
                  <a:srgbClr val="000000"/>
                </a:solidFill>
                <a:effectLst/>
                <a:latin typeface="Arial" panose="020B0604020202020204" pitchFamily="34" charset="0"/>
              </a:rPr>
              <a:t>XGBoost achieved the highest performance with an R-squared score of</a:t>
            </a:r>
            <a:br>
              <a:rPr lang="en-US" b="0" dirty="0">
                <a:effectLst/>
              </a:rPr>
            </a:br>
            <a:r>
              <a:rPr lang="en-US" b="0" i="0" u="none" strike="noStrike" dirty="0">
                <a:effectLst/>
                <a:latin typeface="Arial" panose="020B0604020202020204" pitchFamily="34" charset="0"/>
              </a:rPr>
              <a:t>.</a:t>
            </a:r>
            <a:r>
              <a:rPr lang="en-US" sz="2000" dirty="0"/>
              <a:t> Training R^2 score: 0.964274456682084</a:t>
            </a:r>
          </a:p>
          <a:p>
            <a:pPr marL="0" indent="0">
              <a:buNone/>
            </a:pPr>
            <a:endParaRPr lang="en-US" b="0" dirty="0">
              <a:effectLst/>
            </a:endParaRPr>
          </a:p>
          <a:p>
            <a:pPr marL="0" indent="0">
              <a:buNone/>
            </a:pPr>
            <a:br>
              <a:rPr lang="en-US" b="0" dirty="0">
                <a:effectLst/>
              </a:rPr>
            </a:br>
            <a:br>
              <a:rPr lang="en-US" b="0" i="0" u="none" strike="noStrike" dirty="0">
                <a:effectLst/>
                <a:latin typeface="Arial" panose="020B0604020202020204" pitchFamily="34" charset="0"/>
              </a:rPr>
            </a:br>
            <a:endParaRPr lang="en-US" dirty="0"/>
          </a:p>
        </p:txBody>
      </p:sp>
    </p:spTree>
    <p:extLst>
      <p:ext uri="{BB962C8B-B14F-4D97-AF65-F5344CB8AC3E}">
        <p14:creationId xmlns:p14="http://schemas.microsoft.com/office/powerpoint/2010/main" val="90060347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TM10001114[[fn=Gallery]]</Template>
  <TotalTime>110</TotalTime>
  <Words>313</Words>
  <Application>Microsoft Office PowerPoint</Application>
  <PresentationFormat>Widescreen</PresentationFormat>
  <Paragraphs>43</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Gill Sans MT</vt:lpstr>
      <vt:lpstr>Old Standard TT</vt:lpstr>
      <vt:lpstr>Roboto Mono</vt:lpstr>
      <vt:lpstr>Gallery</vt:lpstr>
      <vt:lpstr>Used car price prediction</vt:lpstr>
      <vt:lpstr>introduction</vt:lpstr>
      <vt:lpstr>Problem statement</vt:lpstr>
      <vt:lpstr>correlation</vt:lpstr>
      <vt:lpstr>preprocessing</vt:lpstr>
      <vt:lpstr>Model explored</vt:lpstr>
      <vt:lpstr>R-Squared Score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Saqlain</dc:creator>
  <cp:lastModifiedBy>Muhammad Saqlain</cp:lastModifiedBy>
  <cp:revision>1</cp:revision>
  <dcterms:created xsi:type="dcterms:W3CDTF">2025-01-28T05:33:03Z</dcterms:created>
  <dcterms:modified xsi:type="dcterms:W3CDTF">2025-01-28T07:38:25Z</dcterms:modified>
</cp:coreProperties>
</file>